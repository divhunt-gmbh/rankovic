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C9A227"/>
                </a:solidFill>
                <a:latin typeface="Arial"/>
              </a:defRPr>
            </a:pPr>
            <a:r>
              <a:t>TALIJA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by Ranković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3200400"/>
            <a:ext cx="13716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Porodično Nasleđe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家族传承与当代表达的融合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Premium Srpska Rakija · 塞尔维亚优质拉基亚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C8"/>
                </a:solidFill>
                <a:latin typeface="Arial"/>
              </a:defRPr>
            </a:pPr>
            <a:r>
              <a:t>Porodično nasleđe pretočeno u savremeni izraz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Arial"/>
              </a:defRPr>
            </a:pPr>
            <a:r>
              <a:t>Destilerija Ranković · Est. 2022 · Lazarevac, Srbija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0D0D"/>
                </a:solidFill>
                <a:latin typeface="Arial"/>
              </a:defRPr>
            </a:pPr>
            <a:r>
              <a:t>Srbija – Zemlja Rakije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0D0D"/>
                </a:solidFill>
                <a:latin typeface="Arial"/>
              </a:defRPr>
            </a:pPr>
            <a:r>
              <a:t>塞尔维亚 - 拉基亚之乡</a:t>
            </a:r>
          </a:p>
        </p:txBody>
      </p:sp>
      <p:pic>
        <p:nvPicPr>
          <p:cNvPr id="5" name="Picture 4" descr="viber_slika_2025-12-08_16-15-36-6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0292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0D0D"/>
                </a:solidFill>
                <a:latin typeface="Arial"/>
              </a:defRPr>
            </a:pPr>
            <a:r>
              <a:t>🍇 Vekovna tradicija · 数百年的传统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Arial"/>
              </a:defRPr>
            </a:pPr>
            <a:r>
              <a:t>Proizvodnja rakije datira od 14. veka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0D0D"/>
                </a:solidFill>
                <a:latin typeface="Arial"/>
              </a:defRPr>
            </a:pPr>
            <a:r>
              <a:t>🏠 Porodična tradicija · 家族传统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Arial"/>
              </a:defRPr>
            </a:pPr>
            <a:r>
              <a:t>Svaka porodica ima svoju recepturu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0D0D"/>
                </a:solidFill>
                <a:latin typeface="Arial"/>
              </a:defRPr>
            </a:pPr>
            <a:r>
              <a:t>🤝 Simbol gostoprimstva · 好客的象征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Arial"/>
              </a:defRPr>
            </a:pPr>
            <a:r>
              <a:t>Rakija se služi gostima kao znak dobrodošlice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0D0D"/>
                </a:solidFill>
                <a:latin typeface="Arial"/>
              </a:defRPr>
            </a:pPr>
            <a:r>
              <a:t>🌍 Geografski zaštićen proizvod · 地理标志保护产品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Arial"/>
              </a:defRPr>
            </a:pPr>
            <a:r>
              <a:t>Autentičan evropski proizvod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D0D0D"/>
                </a:solidFill>
                <a:latin typeface="Arial"/>
              </a:defRPr>
            </a:pPr>
            <a: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Destilerija Ranković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兰科维奇酿酒厂</a:t>
            </a:r>
          </a:p>
        </p:txBody>
      </p:sp>
      <p:pic>
        <p:nvPicPr>
          <p:cNvPr id="5" name="Picture 4" descr="WhatsApp Image 2025-12-16 at 9.35.29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0292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9A227"/>
                </a:solidFill>
                <a:latin typeface="Arial"/>
              </a:defRPr>
            </a:pPr>
            <a:r>
              <a:t>Znanje Koje Se Ne Prekida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不曾中断的技艺传承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43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Znanje o pečenju rakije u porodici Ranković prenosi se kroz tri generacije. Prvi je ovaj zanat započeo deda. Danas rakiju proizvode otac i sin zajedno.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931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Arial"/>
              </a:defRPr>
            </a:pPr>
            <a:r>
              <a:t>兰科维奇家族的蒸馏技艺已传承三代，如今由父子共同酿造。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8463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22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303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Generacije · 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8463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227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303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Zlatnih medalja · 金奖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48463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22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5303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Vrste rakije · 品种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0D0D"/>
                </a:solidFill>
                <a:latin typeface="Arial"/>
              </a:defRPr>
            </a:pPr>
            <a:r>
              <a:t>Tradicija Vođena Znanjem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0D0D"/>
                </a:solidFill>
                <a:latin typeface="Arial"/>
              </a:defRPr>
            </a:pPr>
            <a:r>
              <a:t>以知识引导的传统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D0D0D"/>
                </a:solidFill>
                <a:latin typeface="Arial"/>
              </a:defRPr>
            </a:pPr>
            <a:r>
              <a:t>"U porodici Ranković znanje o destilaciji ne smatra se ličnom veštinom, već obavezom prema precima i odgovornošću prema generacijama koje dolaze."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D0D0D"/>
                </a:solidFill>
                <a:latin typeface="Arial"/>
              </a:defRPr>
            </a:pPr>
            <a:r>
              <a:t>在兰科维奇家族中，蒸馏技艺并非个人能力的体现，而是一种对祖辈的责任，以及对未来世代的承诺。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4114800"/>
            <a:ext cx="1371600" cy="182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4805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D0D0D"/>
                </a:solidFill>
                <a:latin typeface="Arial"/>
              </a:defRPr>
            </a:pPr>
            <a:r>
              <a:t>Pravi kvalitet se stalno potvrđuje učenjem i usavršavanjem. Trajna vrednost gradi se postepeno, kroz dosledan rad.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D0D0D"/>
                </a:solidFill>
                <a:latin typeface="Arial"/>
              </a:defRPr>
            </a:pPr>
            <a:r>
              <a:t>真正的品质需要通过持续学习与精进不断验证。真正的价值来自循序渐进的坚持。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D0D0D"/>
                </a:solidFill>
                <a:latin typeface="Arial"/>
              </a:defRPr>
            </a:pPr>
            <a: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Četiri Stuba Kvaliteta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质量四大支柱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3840480"/>
          </a:xfrm>
          <a:prstGeom prst="roundRect">
            <a:avLst/>
          </a:prstGeom>
          <a:solidFill>
            <a:srgbClr val="1E1E1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Arial"/>
              </a:defRPr>
            </a:pPr>
            <a:r>
              <a:t>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227"/>
                </a:solidFill>
                <a:latin typeface="Arial"/>
              </a:defRPr>
            </a:pPr>
            <a:r>
              <a:t>Čisto Voće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纯净水果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100% prirodno voće bez aditiva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100%天然水果，无添加剂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560320" cy="3840480"/>
          </a:xfrm>
          <a:prstGeom prst="roundRect">
            <a:avLst/>
          </a:prstGeom>
          <a:solidFill>
            <a:srgbClr val="1E1E1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Arial"/>
              </a:defRPr>
            </a:pPr>
            <a:r>
              <a:t>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227"/>
                </a:solidFill>
                <a:latin typeface="Arial"/>
              </a:defRPr>
            </a:pPr>
            <a:r>
              <a:t>Dvostruka Destilacija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双重蒸馏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Tradicionalne metode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传统工艺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28800"/>
            <a:ext cx="2560320" cy="3840480"/>
          </a:xfrm>
          <a:prstGeom prst="roundRect">
            <a:avLst/>
          </a:prstGeom>
          <a:solidFill>
            <a:srgbClr val="1E1E1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Arial"/>
              </a:defRPr>
            </a:pPr>
            <a:r>
              <a:t>❤️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227"/>
                </a:solidFill>
                <a:latin typeface="Arial"/>
              </a:defRPr>
            </a:pPr>
            <a:r>
              <a:t>Sa Ljubavlju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用心酿造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Ručna proizvodnja, mala serija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手工制作，小批量生产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28800"/>
            <a:ext cx="2560320" cy="3840480"/>
          </a:xfrm>
          <a:prstGeom prst="roundRect">
            <a:avLst/>
          </a:prstGeom>
          <a:solidFill>
            <a:srgbClr val="1E1E1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Arial"/>
              </a:defRPr>
            </a:pPr>
            <a:r>
              <a:t>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227"/>
                </a:solidFill>
                <a:latin typeface="Arial"/>
              </a:defRPr>
            </a:pPr>
            <a:r>
              <a:t>Premium Kvalitet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优质品质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657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Bez kompromisa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绝不妥协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0D0D"/>
                </a:solidFill>
                <a:latin typeface="Arial"/>
              </a:defRPr>
            </a:pPr>
            <a:r>
              <a:t>TALIJA Kolekcija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0D0D"/>
                </a:solidFill>
                <a:latin typeface="Arial"/>
              </a:defRPr>
            </a:pPr>
            <a:r>
              <a:t>塔利亚系列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D0D0D"/>
                </a:solidFill>
                <a:latin typeface="Arial"/>
              </a:defRPr>
            </a:pPr>
            <a:r>
              <a:t>Četiri ukusa, jedna priča · 四种口味，一个故事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r>
              <a:t>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0D0D"/>
                </a:solidFill>
                <a:latin typeface="Arial"/>
              </a:defRPr>
            </a:pPr>
            <a:r>
              <a:t>Šljiva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D0D0D"/>
                </a:solidFill>
                <a:latin typeface="Arial"/>
              </a:defRPr>
            </a:pPr>
            <a:r>
              <a:t>李子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56032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r>
              <a:t>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0D0D"/>
                </a:solidFill>
                <a:latin typeface="Arial"/>
              </a:defRPr>
            </a:pPr>
            <a:r>
              <a:t>Jabuka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D0D0D"/>
                </a:solidFill>
                <a:latin typeface="Arial"/>
              </a:defRPr>
            </a:pPr>
            <a:r>
              <a:t>苹果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r>
              <a:t>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0D0D"/>
                </a:solidFill>
                <a:latin typeface="Arial"/>
              </a:defRPr>
            </a:pPr>
            <a:r>
              <a:t>Kruška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D0D0D"/>
                </a:solidFill>
                <a:latin typeface="Arial"/>
              </a:defRPr>
            </a:pPr>
            <a:r>
              <a:t>梨子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56032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r>
              <a:t>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0D0D"/>
                </a:solidFill>
                <a:latin typeface="Arial"/>
              </a:defRPr>
            </a:pPr>
            <a:r>
              <a:t>Dunja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D0D0D"/>
                </a:solidFill>
                <a:latin typeface="Arial"/>
              </a:defRPr>
            </a:pPr>
            <a:r>
              <a:t>榅桲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D0D0D"/>
                </a:solidFill>
                <a:latin typeface="Arial"/>
              </a:defRPr>
            </a:pPr>
            <a:r>
              <a:t>TALIJA je naša ljubavna pesma srpskom voću.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塔利亚是我们对塞尔维亚水果的爱的颂歌。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D0D0D"/>
                </a:solidFill>
                <a:latin typeface="Arial"/>
              </a:defRPr>
            </a:pPr>
            <a: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ber_slika_2025-12-08_16-15-33-5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0292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227"/>
                </a:solidFill>
                <a:latin typeface="Arial"/>
              </a:defRPr>
            </a:pPr>
            <a:r>
              <a:t>Srce Destilerije · 酒坊的核心之作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TALIJA Šljiva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塔利亚李子白兰地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A227"/>
                </a:solidFill>
                <a:latin typeface="Arial"/>
              </a:defRPr>
            </a:pPr>
            <a:r>
              <a:t>🏆 Zlatna medalja · Novosadski sajam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1089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Centralni proizvod destilerije i najviši izraz znanja porodice Ranković. Talija nije rakija od jedne sorte – ona je pažljivo razvijen blend više destilata.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3891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Arial"/>
              </a:defRPr>
            </a:pPr>
            <a:r>
              <a:t>酒坊的核心产品，代表了兰科维奇家族技艺与经验的最高水平。TALI娅并非单一品种白兰地，而是一款精心调配而成的复合酒。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  <a:latin typeface="Arial"/>
              </a:defRPr>
            </a:pPr>
            <a:r>
              <a:t>Ravnoteža daje dubinu, stabilnost i vrednost · 平衡赋予深度与价值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227"/>
                </a:solidFill>
                <a:latin typeface="Arial"/>
              </a:defRPr>
            </a:pPr>
            <a:r>
              <a:t>TALIJA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TALIJA Jabuka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塔利亚苹果白兰地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A227"/>
                </a:solidFill>
                <a:latin typeface="Arial"/>
              </a:defRPr>
            </a:pPr>
            <a:r>
              <a:t>"Jutarnja Svetlost" · "晨曦之光"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Sveža, živahna aroma zelenih i crvenih jabuka sa citruznim akcentima. Ukus je balansiran – slatko-kiselkasto, sa blagom začinskom notom.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Arial"/>
              </a:defRPr>
            </a:pPr>
            <a:r>
              <a:t>新鲜活泼的青苹果和红苹果香气，带有柑橘的点缀。口感平衡——酸甜适中，带有淡淡的香料味。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  <a:latin typeface="Arial"/>
              </a:defRPr>
            </a:pPr>
            <a:r>
              <a:t>Osvežavajuća i elegantna · 清爽优雅</a:t>
            </a:r>
          </a:p>
        </p:txBody>
      </p:sp>
      <p:pic>
        <p:nvPicPr>
          <p:cNvPr id="10" name="Picture 9" descr="viber_slika_2025-12-08_16-15-33-2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731520"/>
            <a:ext cx="5029200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ber_image_2025-12-16_21-44-44-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0292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227"/>
                </a:solidFill>
                <a:latin typeface="Arial"/>
              </a:defRPr>
            </a:pPr>
            <a:r>
              <a:t>TALIJA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TALIJA Kruška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塔利亚梨子白兰地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A227"/>
                </a:solidFill>
                <a:latin typeface="Arial"/>
              </a:defRPr>
            </a:pPr>
            <a:r>
              <a:t>"Kristalna Elegancija" · "水晶般的优雅"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2918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Mirisna, cvetna aroma odabranih sorti krušaka koja otvara čula. Ukus je svilenkast, mekan, sa fino izbalansiranom slatkoćom i diskretnom kiselošću.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3891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Arial"/>
              </a:defRPr>
            </a:pPr>
            <a:r>
              <a:t>威廉斯梨的芬芳花香，唤醒感官。口感如丝般柔滑，甜度平衡，带有微妙的酸度。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  <a:latin typeface="Arial"/>
              </a:defRPr>
            </a:pPr>
            <a:r>
              <a:t>Pažljiv odabir sorti · 精选品种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227"/>
                </a:solidFill>
                <a:latin typeface="Arial"/>
              </a:defRPr>
            </a:pPr>
            <a:r>
              <a:t>TALIJA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TALIJA Dunja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塔利亚榅桲白兰地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A227"/>
                </a:solidFill>
                <a:latin typeface="Arial"/>
              </a:defRPr>
            </a:pPr>
            <a:r>
              <a:t>"Zlatna Pesma" · "金色之歌"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Bogata, složena aroma dunje sa cvetnim notama kamilice i toplim mednim tonovima. Završnica je duga, zlatna, aromatična.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Arial"/>
              </a:defRPr>
            </a:pPr>
            <a:r>
              <a:t>榅桲的浓郁复杂香气，带有洋甘菊和烤杏的花香。余味悠长，金色，芳香四溢。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  <a:latin typeface="Arial"/>
              </a:defRPr>
            </a:pPr>
            <a:r>
              <a:t>Retka i dragocena · 稀有珍贵</a:t>
            </a:r>
          </a:p>
        </p:txBody>
      </p:sp>
      <p:pic>
        <p:nvPicPr>
          <p:cNvPr id="10" name="Picture 9" descr="viber_slika_2025-12-08_16-15-33-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731520"/>
            <a:ext cx="5029200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0D0D"/>
                </a:solidFill>
                <a:latin typeface="Arial"/>
              </a:defRPr>
            </a:pPr>
            <a:r>
              <a:t>Tihi Luksuz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D0D0D"/>
                </a:solidFill>
                <a:latin typeface="Arial"/>
              </a:defRPr>
            </a:pPr>
            <a:r>
              <a:t>低调而内敛的奢华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D0D0D"/>
                </a:solidFill>
                <a:latin typeface="Arial"/>
              </a:defRPr>
            </a:pPr>
            <a:r>
              <a:t>Talija svoju vrednost ne gradi kroz upadljivu promociju, već kroz poreklo, proces i priznanja.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  <a:latin typeface="Arial"/>
              </a:defRPr>
            </a:pPr>
            <a:r>
              <a:t>TALI娅的价值并不依赖张扬的宣传，而体现在其来源、工艺与获得的认可之中。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0D0D"/>
                </a:solidFill>
                <a:latin typeface="Arial"/>
              </a:defRPr>
            </a:pPr>
            <a:r>
              <a:t>🏆 10 zlatnih medalja · 十枚金奖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Arial"/>
              </a:defRPr>
            </a:pPr>
            <a:r>
              <a:t>Novosadski sajam 2025 · 诺维萨德农博会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0D0D"/>
                </a:solidFill>
                <a:latin typeface="Arial"/>
              </a:defRPr>
            </a:pPr>
            <a:r>
              <a:t>🔒 Ograničena proizvodnja · 限量生产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Arial"/>
              </a:defRPr>
            </a:pPr>
            <a:r>
              <a:t>Potpuna kontrola kvaliteta · 全面品控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0D0D"/>
                </a:solidFill>
                <a:latin typeface="Arial"/>
              </a:defRPr>
            </a:pPr>
            <a:r>
              <a:t>🎁 Premium poklon · 高端礼品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Arial"/>
              </a:defRPr>
            </a:pPr>
            <a:r>
              <a:t>Gravirane čašice · 定制雕刻酒杯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0D0D"/>
                </a:solidFill>
                <a:latin typeface="Arial"/>
              </a:defRPr>
            </a:pPr>
            <a:r>
              <a:t>🌿 Prirodni proizvod · 天然产品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Arial"/>
              </a:defRPr>
            </a:pPr>
            <a:r>
              <a:t>100% voće, bez aditiva · 100%水果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0D0D"/>
                </a:solidFill>
                <a:latin typeface="Arial"/>
              </a:defRPr>
            </a:pPr>
            <a:r>
              <a:t>🤝 Dugoročna partnerstva · 长期合作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Arial"/>
              </a:defRPr>
            </a:pPr>
            <a:r>
              <a:t>Stabilnost i poverenje · 稳定与信任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0D0D"/>
                </a:solidFill>
                <a:latin typeface="Arial"/>
              </a:defRPr>
            </a:pPr>
            <a:r>
              <a:t>🌍 Autentičan proizvod · 正宗产品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Arial"/>
              </a:defRPr>
            </a:pPr>
            <a:r>
              <a:t>Iz srca Srbije · 来自塞尔维亚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D0D0D"/>
                </a:solidFill>
                <a:latin typeface="Arial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Mogućnosti Saradnje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合作机会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3657600"/>
          </a:xfrm>
          <a:prstGeom prst="roundRect">
            <a:avLst/>
          </a:prstGeom>
          <a:solidFill>
            <a:srgbClr val="1E1E1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Arial"/>
              </a:defRPr>
            </a:pPr>
            <a:r>
              <a:t>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  <a:latin typeface="Arial"/>
              </a:defRPr>
            </a:pPr>
            <a:r>
              <a:t>Ekskluzivna Distribucija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独家经销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Ekskluzivna prava za regione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4B4B4"/>
                </a:solidFill>
                <a:latin typeface="Arial"/>
              </a:defRPr>
            </a:pPr>
            <a:r>
              <a:t>区域独家经销权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560320" cy="3657600"/>
          </a:xfrm>
          <a:prstGeom prst="roundRect">
            <a:avLst/>
          </a:prstGeom>
          <a:solidFill>
            <a:srgbClr val="1E1E1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Arial"/>
              </a:defRPr>
            </a:pPr>
            <a:r>
              <a:t>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  <a:latin typeface="Arial"/>
              </a:defRPr>
            </a:pPr>
            <a:r>
              <a:t>Uvoz i Veleprodaja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进口批发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Direktan uvoz iz Srbije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4B4B4"/>
                </a:solidFill>
                <a:latin typeface="Arial"/>
              </a:defRPr>
            </a:pPr>
            <a:r>
              <a:t>从塞尔维亚直接进口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28800"/>
            <a:ext cx="2560320" cy="3657600"/>
          </a:xfrm>
          <a:prstGeom prst="roundRect">
            <a:avLst/>
          </a:prstGeom>
          <a:solidFill>
            <a:srgbClr val="1E1E1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Arial"/>
              </a:defRPr>
            </a:pPr>
            <a:r>
              <a:t>🍽️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  <a:latin typeface="Arial"/>
              </a:defRPr>
            </a:pPr>
            <a:r>
              <a:t>HoReCa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酒店餐饮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Hoteli, restorani, barovi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4B4B4"/>
                </a:solidFill>
                <a:latin typeface="Arial"/>
              </a:defRPr>
            </a:pPr>
            <a:r>
              <a:t>酒店、餐厅、酒吧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28800"/>
            <a:ext cx="2560320" cy="3657600"/>
          </a:xfrm>
          <a:prstGeom prst="roundRect">
            <a:avLst/>
          </a:prstGeom>
          <a:solidFill>
            <a:srgbClr val="1E1E1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Arial"/>
              </a:defRPr>
            </a:pPr>
            <a:r>
              <a:t>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  <a:latin typeface="Arial"/>
              </a:defRPr>
            </a:pPr>
            <a:r>
              <a:t>Poklon Tržište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礼品市场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Premium pokloni i setovi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4B4B4"/>
                </a:solidFill>
                <a:latin typeface="Arial"/>
              </a:defRPr>
            </a:pPr>
            <a:r>
              <a:t>高端礼品和套装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0D0D"/>
                </a:solidFill>
                <a:latin typeface="Arial"/>
              </a:defRPr>
            </a:pPr>
            <a:r>
              <a:t>Kontakt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0D0D"/>
                </a:solidFill>
                <a:latin typeface="Arial"/>
              </a:defRPr>
            </a:pPr>
            <a:r>
              <a:t>联系方式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9A227"/>
                </a:solidFill>
                <a:latin typeface="Arial"/>
              </a:defRPr>
            </a:pPr>
            <a:r>
              <a:t>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0D0D"/>
                </a:solidFill>
                <a:latin typeface="Arial"/>
              </a:defRPr>
            </a:pPr>
            <a:r>
              <a:t>Adresa · 地址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D0D0D"/>
                </a:solidFill>
                <a:latin typeface="Arial"/>
              </a:defRPr>
            </a:pPr>
            <a:r>
              <a:t>Medoševački Put 2a</a:t>
            </a:r>
            <a:br/>
            <a:r>
              <a:t>Lazarevac, Srbija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9A227"/>
                </a:solidFill>
                <a:latin typeface="Arial"/>
              </a:defRPr>
            </a:pPr>
            <a:r>
              <a:t>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0D0D"/>
                </a:solidFill>
                <a:latin typeface="Arial"/>
              </a:defRPr>
            </a:pPr>
            <a:r>
              <a:t>Telefon · 电话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D0D0D"/>
                </a:solidFill>
                <a:latin typeface="Arial"/>
              </a:defRPr>
            </a:pPr>
            <a:r>
              <a:t>+381 65 383 00 10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9A227"/>
                </a:solidFill>
                <a:latin typeface="Arial"/>
              </a:defRPr>
            </a:pPr>
            <a:r>
              <a:t>✉️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0D0D"/>
                </a:solidFill>
                <a:latin typeface="Arial"/>
              </a:defRPr>
            </a:pPr>
            <a:r>
              <a:t>Email · 邮箱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D0D0D"/>
                </a:solidFill>
                <a:latin typeface="Arial"/>
              </a:defRPr>
            </a:pPr>
            <a:r>
              <a:t>destilerijarankovic@gmail.com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D0D0D"/>
                </a:solidFill>
                <a:latin typeface="Arial"/>
              </a:defRPr>
            </a:pPr>
            <a:r>
              <a:t>🌐 rakijatalija.rs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D0D0D"/>
                </a:solidFill>
                <a:latin typeface="Arial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C9A227"/>
                </a:solidFill>
                <a:latin typeface="Arial"/>
              </a:defRPr>
            </a:pPr>
            <a:r>
              <a:t>TALIJA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2926080"/>
            <a:ext cx="13716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Pozivamo vas da postanete deo naše priče.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欢迎您成为我们故事的一部分。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Pravi uspeh gradi se kroz dugoročne odnose i međusobno poverenje.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8C8C"/>
                </a:solidFill>
                <a:latin typeface="Arial"/>
              </a:defRPr>
            </a:pPr>
            <a:r>
              <a:t>真正的成功来自长期关系与相互信任。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Arial"/>
              </a:defRPr>
            </a:pPr>
            <a:r>
              <a:t>Hvala · 谢谢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